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wav" ContentType="audio/wav"/>
  <Override PartName="/ppt/commentAuthors.xml" ContentType="application/vnd.openxmlformats-officedocument.presentationml.commentAuthors+xml"/>
  <Override PartName="/ppt/comments/advanced.xml" ContentType="application/vnd.openxmlformats-officedocument.presentationml.comment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>
  <p:cmAuthor id="7" name="Fictional Reviewer" initials="FR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notesMaster" Target="notesMasters/notesMaster1.xml" /><Relationship Id="rId9" Type="http://schemas.openxmlformats.org/officeDocument/2006/relationships/slide" Target="slides/slide2.xml" /><Relationship Id="advancedAuthors" Type="http://schemas.openxmlformats.org/officeDocument/2006/relationships/commentAuthors" Target="commentAuthors.xml" 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omments/advanced.xml><?xml version="1.0" encoding="utf-8"?>
<p:cmLst xmlns:p="http://schemas.openxmlformats.org/presentationml/2006/main">
  <p:cm authorId="7" dt="2026-01-01T12:00:00Z" idx="1">
    <p:pos x="800" y="400"/>
    <p:text>Fictional review comment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架空データの提案資料です。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hyperlink" Target="https://example.com/strategy" TargetMode="External" /><Relationship Id="rId3" Type="http://schemas.openxmlformats.org/officeDocument/2006/relationships/notesSlide" Target="../notesSlides/notesSlide1.xml" /><Relationship Id="rId4" Type="http://schemas.openxmlformats.org/officeDocument/2006/relationships/image" Target="../media/image1.png" /><Relationship Id="advancedImage" Type="http://schemas.openxmlformats.org/officeDocument/2006/relationships/image" Target="../media/image1.png" /><Relationship Id="advancedAudio" Type="http://schemas.openxmlformats.org/officeDocument/2006/relationships/audio" Target="../media/fictional.wav" /><Relationship Id="advancedMedia" Type="http://schemas.microsoft.com/office/2007/relationships/media" Target="../media/fictional.wav" /><Relationship Id="advancedComments" Type="http://schemas.openxmlformats.org/officeDocument/2006/relationships/comments" Target="../comments/advanced.xml" 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Strategy">
    <p:spTree>
      <p:nvGrpSpPr>
        <p:cNvPr id="1" name=""/>
        <p:cNvGrpSpPr/>
        <p:nvPr/>
      </p:nvGrpSpPr>
      <p:grpSpPr/>
      <p:sp>
        <p:nvSpPr>
          <p:cNvPr id="2" name="Headline"/>
          <p:cNvSpPr txBox="1"/>
          <p:nvPr/>
        </p:nvSpPr>
        <p:spPr>
          <a:xfrm>
            <a:off x="508000" y="381000"/>
            <a:ext cx="7620000" cy="762000"/>
          </a:xfrm>
          <a:prstGeom prst="rect">
            <a:avLst/>
          </a:prstGeom>
          <a:noFill/>
        </p:spPr>
        <p:txBody>
          <a:bodyPr wrap="none" lIns="101600" tIns="76200">
            <a:spAutoFit/>
          </a:bodyPr>
          <a:lstStyle/>
          <a:p>
            <a:pPr algn="ctr"/>
            <a:r>
              <a:rPr sz="2800" b="1">
                <a:solidFill>
                  <a:srgbClr val="2364AA"/>
                </a:solidFill>
                <a:latin typeface="Aptos"/>
                <a:hlinkClick r:id="rId2"/>
              </a:rPr>
              <a:t>売上成長</a:t>
            </a:r>
            <a:r>
              <a:rPr i="1"/>
              <a:t> — 90 days</a:t>
            </a:r>
          </a:p>
        </p:txBody>
      </p:sp>
      <p:sp>
        <p:nvSpPr>
          <p:cNvPr id="3" name="Initiative"/>
          <p:cNvSpPr/>
          <p:nvPr/>
        </p:nvSpPr>
        <p:spPr>
          <a:xfrm>
            <a:off x="762000" y="1778000"/>
            <a:ext cx="3048000" cy="1270000"/>
          </a:xfrm>
          <a:prstGeom prst="roundRect">
            <a:avLst/>
          </a:prstGeom>
          <a:solidFill>
            <a:srgbClr val="F4F6F8"/>
          </a:solidFill>
          <a:ln w="25400">
            <a:solidFill>
              <a:srgbClr val="23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顧客集中</a:t>
            </a:r>
          </a:p>
        </p:txBody>
      </p:sp>
      <p:cxnSp>
        <p:nvCxnSpPr>
          <p:cNvPr id="4" name="Flow"/>
          <p:cNvCxnSpPr/>
          <p:nvPr/>
        </p:nvCxnSpPr>
        <p:spPr>
          <a:xfrm>
            <a:off x="4064000" y="2413000"/>
            <a:ext cx="12700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ecision"/>
          <p:cNvSpPr/>
          <p:nvPr/>
        </p:nvSpPr>
        <p:spPr>
          <a:xfrm>
            <a:off x="5588000" y="1778000"/>
            <a:ext cx="2540000" cy="12700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実行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2000" y="3810000"/>
          <a:ext cx="7620000" cy="1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  <a:gridCol w="2540000"/>
              </a:tblGrid>
              <a:tr h="635000">
                <a:tc>
                  <a:txBody>
                    <a:bodyPr/>
                    <a:lstStyle/>
                    <a:p>
                      <a:r>
                        <a:t>施策</a:t>
                      </a:r>
                    </a:p>
                  </a:txBody>
                  <a:tcPr>
                    <a:lnL w="12700">
                      <a:solidFill>
                        <a:srgbClr val="AA0000"/>
                      </a:solidFill>
                    </a:lnL>
                    <a:lnR w="25400">
                      <a:solidFill>
                        <a:srgbClr val="00AA00"/>
                      </a:solidFill>
                    </a:lnR>
                    <a:lnT>
                      <a:noFill/>
                    </a:lnT>
                    <a:lnB w="38100">
                      <a:solidFill>
                        <a:srgbClr val="0000AA"/>
                      </a:solidFill>
                    </a:lnB>
                    <a:lnTlToBr w="12700">
                      <a:solidFill>
                        <a:srgbClr val="123456"/>
                      </a:solidFill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t>担当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指標</a:t>
                      </a:r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t>標準化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運用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作業時間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fixture.png"/>
          <p:cNvPicPr>
            <a:picLocks noChangeAspect="1"/>
          </p:cNvPicPr>
          <p:nvPr/>
        </p:nvPicPr>
        <p:blipFill>
          <a:blip r:embed="rId4"/>
          <a:srcRect l="12500" r="25000" t="-1000" b="0"/>
          <a:stretch>
            <a:fillRect/>
          </a:stretch>
        </p:blipFill>
        <p:spPr>
          <a:xfrm>
            <a:off x="10160000" y="381000"/>
            <a:ext cx="304800" cy="304800"/>
          </a:xfrm>
          <a:prstGeom prst="rect">
            <a:avLst/>
          </a:prstGeom>
        </p:spPr>
      </p:pic>
      <p:grpSp>
        <p:nvGrpSpPr>
          <p:cNvPr id="8" name="Grouped"/>
          <p:cNvGrpSpPr/>
          <p:nvPr/>
        </p:nvGrpSpPr>
        <p:grpSpPr>
          <a:xfrm>
            <a:off x="9144000" y="2286000"/>
            <a:ext cx="1651000" cy="762000"/>
            <a:chOff x="9144000" y="2286000"/>
            <a:chExt cx="1651000" cy="762000"/>
          </a:xfrm>
        </p:grpSpPr>
        <p:sp>
          <p:nvSpPr>
            <p:cNvPr id="9" name="Rectangle 8"/>
            <p:cNvSpPr/>
            <p:nvPr/>
          </p:nvSpPr>
          <p:spPr>
            <a:xfrm>
              <a:off x="9144000" y="2286000"/>
              <a:ext cx="762000" cy="762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A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0033000" y="2286000"/>
              <a:ext cx="762000" cy="762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B</a:t>
              </a:r>
            </a:p>
          </p:txBody>
        </p:sp>
      </p:grpSp>
      <p:sp>
        <p:nvSpPr>
          <p:cNvPr id="30" name="Gradient"/>
          <p:cNvSpPr txBox="1"/>
          <p:nvPr/>
        </p:nvSpPr>
        <p:spPr>
          <a:xfrm>
            <a:off x="508000" y="381000"/>
            <a:ext cx="7620000" cy="762000"/>
          </a:xfrm>
          <a:prstGeom prst="rect">
            <a:avLst/>
          </a:prstGeom>
          <a:gradFill flip="x" rotWithShape="0">
            <a:gsLst>
              <a:gs pos="0">
                <a:srgbClr val="FF0000"/>
              </a:gs>
              <a:gs pos="75000">
                <a:schemeClr val="accent2">
                  <a:alpha val="40000"/>
                </a:schemeClr>
              </a:gs>
              <a:gs pos="100000">
                <a:srgbClr val="0000FF"/>
              </a:gs>
            </a:gsLst>
            <a:lin ang="5400000" scaled="0"/>
          </a:gradFill>
        </p:spPr>
        <p:txBody>
          <a:bodyPr wrap="none" lIns="101600" tIns="76200">
            <a:spAutoFit/>
          </a:bodyPr>
          <a:lstStyle/>
          <a:p>
            <a:pPr algn="ctr"/>
            <a:r>
              <a:rPr sz="2800" b="1">
                <a:solidFill>
                  <a:srgbClr val="2364AA"/>
                </a:solidFill>
                <a:latin typeface="Aptos"/>
                <a:hlinkClick r:id="rId2"/>
              </a:rPr>
              <a:t>Fictional advanced reading</a:t>
            </a:r>
            <a:r>
              <a:rPr i="1"/>
              <a:t> — 90 days</a:t>
            </a:r>
          </a:p>
        </p:txBody>
      </p:sp>
      <p:sp>
        <p:nvSpPr>
          <p:cNvPr id="31" name="Pattern"/>
          <p:cNvSpPr txBox="1"/>
          <p:nvPr/>
        </p:nvSpPr>
        <p:spPr>
          <a:xfrm>
            <a:off x="508000" y="381000"/>
            <a:ext cx="7620000" cy="762000"/>
          </a:xfrm>
          <a:prstGeom prst="rect">
            <a:avLst/>
          </a:prstGeom>
          <a:pattFill prst="pct20">
            <a:fgClr>
              <a:srgbClr val="123456"/>
            </a:fgClr>
            <a:bgClr>
              <a:schemeClr val="bg1"/>
            </a:bgClr>
          </a:pattFill>
        </p:spPr>
        <p:txBody>
          <a:bodyPr wrap="none" lIns="101600" tIns="76200">
            <a:spAutoFit/>
          </a:bodyPr>
          <a:lstStyle/>
          <a:p>
            <a:pPr algn="ctr"/>
            <a:r>
              <a:rPr sz="2800" b="1">
                <a:solidFill>
                  <a:srgbClr val="2364AA"/>
                </a:solidFill>
                <a:latin typeface="Aptos"/>
                <a:hlinkClick r:id="rId2"/>
              </a:rPr>
              <a:t>Fictional advanced reading</a:t>
            </a:r>
            <a:r>
              <a:rPr i="1"/>
              <a:t> — 90 days</a:t>
            </a:r>
          </a:p>
        </p:txBody>
      </p:sp>
      <p:sp>
        <p:nvSpPr>
          <p:cNvPr id="32" name="Picture fill"/>
          <p:cNvSpPr txBox="1"/>
          <p:nvPr/>
        </p:nvSpPr>
        <p:spPr>
          <a:xfrm>
            <a:off x="508000" y="381000"/>
            <a:ext cx="7620000" cy="762000"/>
          </a:xfrm>
          <a:prstGeom prst="rect">
            <a:avLst/>
          </a:prstGeom>
          <a:blipFill rotWithShape="1">
            <a:blip r:embed="advancedImage"/>
            <a:srcRect l="10000" t="-5000"/>
            <a:tile tx="12700" ty="25400" sx="50000" sy="50000"/>
          </a:blipFill>
        </p:spPr>
        <p:txBody>
          <a:bodyPr wrap="none" lIns="101600" tIns="76200">
            <a:spAutoFit/>
          </a:bodyPr>
          <a:lstStyle/>
          <a:p>
            <a:pPr algn="ctr"/>
            <a:r>
              <a:rPr sz="2800" b="1">
                <a:solidFill>
                  <a:srgbClr val="2364AA"/>
                </a:solidFill>
                <a:latin typeface="Aptos"/>
                <a:hlinkClick r:id="rId2"/>
              </a:rPr>
              <a:t>Fictional advanced reading</a:t>
            </a:r>
            <a:r>
              <a:rPr i="1"/>
              <a:t> — 90 days</a:t>
            </a:r>
          </a:p>
        </p:txBody>
      </p:sp>
      <p:pic>
        <p:nvPicPr>
          <p:cNvPr id="33" name="Audio poster" descr="fixture.png"/>
          <p:cNvPicPr>
            <a:picLocks noChangeAspect="1"/>
          </p:cNvPicPr>
          <p:nvPr>
            <a:audioFile r:link="advancedAudio"/>
            <p:extLst>
              <p:ext uri="{DAA4B4D4-AFB6-43A0-9A19-197AE4BC9838}">
                <p14:media r:embed="advancedMedia"/>
              </p:ext>
            </p:extLst>
          </p:nvPr>
        </p:nvPicPr>
        <p:blipFill>
          <a:blip r:embed="rId4"/>
          <a:srcRect l="12500" r="25000" t="-1000" b="0"/>
          <a:stretch>
            <a:fillRect/>
          </a:stretch>
        </p:blipFill>
        <p:spPr>
          <a:xfrm>
            <a:off x="10160000" y="381000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spd="slow" advClick="0" advTm="1500" p14:dur="750">
    <p:push dir="l"/>
  </p:transition>
  <p:timing>
    <p:tnLst>
      <p:par>
        <p:cTn id="1" dur="indefinite" restart="never" nodeType="tmRoot">
          <p:childTnLst>
            <p:par>
              <p:cTn id="2" dur="500" fill="hold">
                <p:stCondLst>
                  <p:cond evt="onClick" delay="0"/>
                </p:stCondLst>
                <p:childTnLst>
                  <p:animEffect transition="in" filter="fade">
                    <p:cBhvr>
                      <p:cTn id="3" dur="500"/>
                      <p:tgtEl>
                        <p:spTgt spid="30">
                          <p:txEl>
                            <p:pRg st="0" end="0"/>
                          </p:txEl>
                        </p:spTgt>
                      </p:tgtEl>
                    </p:cBhvr>
                  </p:animEffect>
                </p:childTnLst>
              </p:cTn>
            </p:par>
          </p:childTnLst>
        </p:cTn>
      </p:par>
    </p:tnLst>
    <p:bldLst>
      <p:bldP spid="30" grpId="0" build="p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Metrics"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762000" y="1016000"/>
          <a:ext cx="6350000" cy="38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62000" y="381000"/>
            <a:ext cx="635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Metrics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Fictional strategy</dc:title>
  <dc:subject/>
  <dc:creator>Fixture Author</dc:creator>
  <cp:keywords/>
  <dc:description>generated using python-pptx</dc:description>
  <cp:lastModifiedBy>Fixture Generator</cp:lastModifiedBy>
  <cp:revision>1</cp:revision>
  <dcterms:created xsi:type="dcterms:W3CDTF">2013-01-27T09:14:16Z</dcterms:created>
  <dcterms:modified xsi:type="dcterms:W3CDTF">2013-01-27T09:15:58Z</dcterms:modified>
  <cp:category/>
</cp:coreProperties>
</file>