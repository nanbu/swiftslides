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14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a14="http://schemas.microsoft.com/office/drawing/2010/main" xmlns:m="http://schemas.openxmlformats.org/officeDocument/2006/math" xmlns:mc="http://schemas.openxmlformats.org/markup-compatibility/2006" xmlns:p="http://schemas.openxmlformats.org/presentationml/2006/main" xmlns:u="urn:fictional:futur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</a:t>
            </a:r>
            <mc:AlternateContent>
              <mc:Choice Requires="u">
                <a14:m>
                  <m:oMath>
                    <m:r>
                      <m:t>Rejected</m:t>
                    </m:r>
                  </m:oMath>
                </a14:m>
              </mc:Choice>
              <mc:Choice Requires="a14">
                <a14:m>
                  <m:oMathPara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m:t>a+b</m:t>
                          </m:r>
                        </m:num>
                        <m:den>
                          <m:r>
                            <m:t>c</m:t>
                          </m:r>
                        </m:den>
                      </m:f>
                      <m:sSup>
                        <m:e>
                          <m:r>
                            <m:t>x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m>
                        <m:mPr>
                          <m:baseJc m:val="center"/>
                        </m:mPr>
                        <m:mr>
                          <m:e>
                            <m:r>
                              <m:t>1</m:t>
                            </m:r>
                          </m:e>
                          <m:e>
                            <m:r>
                              <m:t>2</m:t>
                            </m:r>
                          </m:e>
                        </m:mr>
                        <m:mr>
                          <m:e>
                            <m:r>
                              <m:t>3</m:t>
                            </m:r>
                          </m:e>
                          <m:e>
                            <m:r>
                              <m:t>4</m:t>
                            </m:r>
                          </m:e>
                        </m:mr>
                      </m:m>
                      <u:future flag="keep"/>
                    </m:oMath>
                  </m:oMathPara>
                </a14:m>
              </mc:Choice>
              <mc:Choice Requires="a14">
                <a14:m>
                  <m:oMath>
                    <m:r>
                      <m:t>Later</m:t>
                    </m:r>
                  </m:oMath>
                </a14:m>
              </mc:Choice>
              <mc:Fallback>
                <a:r>
                  <a:t>Fallback</a:t>
                </a:r>
              </mc:Fallback>
            </mc:AlternateContent>
            <a:r>
              <a:t>After</a:t>
            </a:r>
          </a:p>
          <a:p>
            <a14:m>
              <m:oMath>
                <m:rad>
                  <m:deg>
                    <m:r>
                      <m:t>3</m:t>
                    </m:r>
                  </m:deg>
                  <m:e>
                    <m:r>
                      <m:t>y</m:t>
                    </m:r>
                  </m:e>
                </m:rad>
                <m:nary>
                  <m:naryPr>
                    <m:chr m:val="∑"/>
                  </m:naryPr>
                  <m:sub>
                    <m:r>
                      <m:t>i=1</m:t>
                    </m:r>
                  </m:sub>
                  <m:sup>
                    <m:r>
                      <m:t>n</m:t>
                    </m:r>
                  </m:sup>
                  <m:e>
                    <m:r>
                      <m:t>i</m:t>
                    </m:r>
                  </m:e>
                </m:nary>
              </m:oMath>
            </a14:m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a14="http://schemas.microsoft.com/office/drawing/2010/main" xmlns:m="http://schemas.openxmlformats.org/officeDocument/2006/math" xmlns:mc="http://schemas.openxmlformats.org/markup-compatibility/2006" xmlns:ns6="http://schemas.microsoft.com/office/powerpoint/2010/main" xmlns:p="http://schemas.openxmlformats.org/presentationml/2006/main" xmlns:u="urn:fictional:future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Fictional equation and 3D"/>
          <p:cNvSpPr/>
          <p:nvPr/>
        </p:nvSpPr>
        <p:spPr>
          <a:xfrm>
            <a:off x="127000" y="254000"/>
            <a:ext cx="2540000" cy="1270000"/>
          </a:xfrm>
          <a:prstGeom prst="rect">
            <a:avLst/>
          </a:prstGeom>
          <a:scene3d>
            <a:camera prst="perspectiveFront" fov="5400000" zoom="150000">
              <a:rot lat="600000" lon="1200000" rev="0"/>
            </a:camera>
            <a:lightRig rig="threePt" dir="t">
              <a:rot lat="0" lon="0" rev="1800000"/>
            </a:lightRig>
            <a:backdrop>
              <a:anchor x="0" y="0" z="12700"/>
              <a:norm dx="0" dy="0" dz="1"/>
              <a:up dx="0" dy="1" dz="0"/>
            </a:backdrop>
            <a:extLst>
              <a:ext uri="urn:fictional:scene">
                <u:future flag="scene"/>
              </a:ext>
            </a:extLst>
          </a:scene3d>
          <a:sp3d z="-12700" extrusionH="25400" contourW="6350" prstMaterial="plastic">
            <a:bevelT w="12700" h="25400" prst="circle"/>
            <a:bevelB w="0" h="0"/>
            <a:extrusionClr>
              <a:srgbClr val="123456"/>
            </a:extrusionClr>
            <a:contourClr>
              <a:schemeClr val="accent2"/>
            </a:contourClr>
          </a:sp3d>
        </p:spPr>
        <p:txBody>
          <a:bodyPr/>
          <a:lstStyle/>
          <a:p>
            <a:r>
              <a:t>Before</a:t>
            </a:r>
            <mc:AlternateContent>
              <mc:Choice Requires="u">
                <a14:m>
                  <m:oMath>
                    <m:r>
                      <m:t>Rejected</m:t>
                    </m:r>
                  </m:oMath>
                </a14:m>
              </mc:Choice>
              <mc:Choice Requires="a14">
                <a14:m>
                  <m:oMathPara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m:t>a+b</m:t>
                          </m:r>
                        </m:num>
                        <m:den>
                          <m:r>
                            <m:t>c</m:t>
                          </m:r>
                        </m:den>
                      </m:f>
                      <m:sSup>
                        <m:e>
                          <m:r>
                            <m:t>x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m>
                        <m:mPr>
                          <m:baseJc m:val="center"/>
                        </m:mPr>
                        <m:mr>
                          <m:e>
                            <m:r>
                              <m:t>1</m:t>
                            </m:r>
                          </m:e>
                          <m:e>
                            <m:r>
                              <m:t>2</m:t>
                            </m:r>
                          </m:e>
                        </m:mr>
                        <m:mr>
                          <m:e>
                            <m:r>
                              <m:t>3</m:t>
                            </m:r>
                          </m:e>
                          <m:e>
                            <m:r>
                              <m:t>4</m:t>
                            </m:r>
                          </m:e>
                        </m:mr>
                      </m:m>
                      <u:future flag="keep"/>
                    </m:oMath>
                  </m:oMathPara>
                </a14:m>
              </mc:Choice>
              <mc:Choice Requires="a14">
                <a14:m>
                  <m:oMath>
                    <m:r>
                      <m:t>Later</m:t>
                    </m:r>
                  </m:oMath>
                </a14:m>
              </mc:Choice>
              <mc:Fallback>
                <a:r>
                  <a:t>Fallback</a:t>
                </a:r>
              </mc:Fallback>
            </mc:AlternateContent>
            <a:r>
              <a:t>After</a:t>
            </a:r>
          </a:p>
          <a:p>
            <a14:m>
              <m:oMath>
                <m:rad>
                  <m:deg>
                    <m:r>
                      <m:t>3</m:t>
                    </m:r>
                  </m:deg>
                  <m:e>
                    <m:r>
                      <m:t>y</m:t>
                    </m:r>
                  </m:e>
                </m:rad>
                <m:nary>
                  <m:naryPr>
                    <m:chr m:val="∑"/>
                  </m:naryPr>
                  <m:sub>
                    <m:r>
                      <m:t>i=1</m:t>
                    </m:r>
                  </m:sub>
                  <m:sup>
                    <m:r>
                      <m:t>n</m:t>
                    </m:r>
                  </m:sup>
                  <m:e>
                    <m:r>
                      <m:t>i</m:t>
                    </m:r>
                  </m:e>
                </m:nary>
              </m:oMath>
            </a14:m>
          </a:p>
        </p:txBody>
      </p:sp>
    </p:spTree>
    <p:extLst>
      <p:ext uri="{BB962C8B-B14F-4D97-AF65-F5344CB8AC3E}">
        <ns6:creationId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ple.com/strategy" TargetMode="Externa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a14="http://schemas.microsoft.com/office/drawing/2010/main" xmlns:m="http://schemas.openxmlformats.org/officeDocument/2006/math" xmlns:mc="http://schemas.openxmlformats.org/markup-compatibility/2006" xmlns:p="http://schemas.openxmlformats.org/presentationml/2006/main" xmlns:r="http://schemas.openxmlformats.org/officeDocument/2006/relationships" xmlns:u="urn:fictional:future">
  <p:cSld name="Strategy">
    <p:spTree>
      <p:nvGrpSpPr>
        <p:cNvPr id="1" name=""/>
        <p:cNvGrpSpPr/>
        <p:nvPr/>
      </p:nvGrpSpPr>
      <p:grpSpPr/>
      <p:sp>
        <p:nvSpPr>
          <p:cNvPr id="2" name="Headline"/>
          <p:cNvSpPr txBox="1"/>
          <p:nvPr/>
        </p:nvSpPr>
        <p:spPr>
          <a:xfrm>
            <a:off x="508000" y="381000"/>
            <a:ext cx="7620000" cy="762000"/>
          </a:xfrm>
          <a:prstGeom prst="rect">
            <a:avLst/>
          </a:prstGeom>
          <a:noFill/>
        </p:spPr>
        <p:txBody>
          <a:bodyPr wrap="none" lIns="101600" tIns="76200">
            <a:spAutoFit/>
          </a:bodyPr>
          <a:lstStyle/>
          <a:p>
            <a:pPr algn="ctr"/>
            <a:r>
              <a:rPr sz="2800" b="1">
                <a:solidFill>
                  <a:srgbClr val="2364AA"/>
                </a:solidFill>
                <a:latin typeface="Aptos"/>
                <a:hlinkClick r:id="rId2"/>
              </a:rPr>
              <a:t>売上成長</a:t>
            </a:r>
            <a:r>
              <a:rPr i="1"/>
              <a:t> — 90 days</a:t>
            </a:r>
          </a:p>
        </p:txBody>
      </p:sp>
      <p:sp>
        <p:nvSpPr>
          <p:cNvPr id="3" name="Initiative"/>
          <p:cNvSpPr/>
          <p:nvPr/>
        </p:nvSpPr>
        <p:spPr>
          <a:xfrm>
            <a:off x="762000" y="1778000"/>
            <a:ext cx="3048000" cy="1270000"/>
          </a:xfrm>
          <a:prstGeom prst="roundRect">
            <a:avLst/>
          </a:prstGeom>
          <a:solidFill>
            <a:srgbClr val="F4F6F8"/>
          </a:solidFill>
          <a:ln w="25400">
            <a:solidFill>
              <a:srgbClr val="23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顧客集中</a:t>
            </a:r>
          </a:p>
        </p:txBody>
      </p:sp>
      <p:cxnSp>
        <p:nvCxnSpPr>
          <p:cNvPr id="4" name="Flow"/>
          <p:cNvCxnSpPr/>
          <p:nvPr/>
        </p:nvCxnSpPr>
        <p:spPr>
          <a:xfrm>
            <a:off x="4064000" y="2413000"/>
            <a:ext cx="127000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ecision"/>
          <p:cNvSpPr/>
          <p:nvPr/>
        </p:nvSpPr>
        <p:spPr>
          <a:xfrm>
            <a:off x="5588000" y="1778000"/>
            <a:ext cx="2540000" cy="12700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実行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2000" y="3810000"/>
          <a:ext cx="7620000" cy="12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/>
                <a:gridCol w="2540000"/>
                <a:gridCol w="2540000"/>
              </a:tblGrid>
              <a:tr h="635000">
                <a:tc>
                  <a:txBody>
                    <a:bodyPr/>
                    <a:lstStyle/>
                    <a:p>
                      <a:r>
                        <a:t>Before</a:t>
                      </a:r>
                      <mc:AlternateContent>
                        <mc:Choice Requires="u">
                          <a14:m>
                            <m:oMath>
                              <m:r>
                                <m:t>Rejected</m:t>
                              </m:r>
                            </m:oMath>
                          </a14:m>
                        </mc:Choice>
                        <mc:Choice Requires="a14">
                          <a14:m>
                            <m:oMathPara>
                              <m:oMathParaPr>
                                <m:jc m:val="center"/>
                              </m:oMathParaPr>
                              <m:oMath>
                                <m:f>
                                  <m:fPr>
                                    <m:type m:val="bar"/>
                                  </m:fPr>
                                  <m:num>
                                    <m:r>
                                      <m:t>a+b</m:t>
                                    </m:r>
                                  </m:num>
                                  <m:den>
                                    <m:r>
                                      <m:t>c</m:t>
                                    </m:r>
                                  </m:den>
                                </m:f>
                                <m:sSup>
                                  <m:e>
                                    <m:r>
                                      <m:t>x</m:t>
                                    </m:r>
                                  </m:e>
                                  <m:sup>
                                    <m:r>
                                      <m:t>2</m:t>
                                    </m:r>
                                  </m:sup>
                                </m:sSup>
                                <m:m>
                                  <m:mPr>
                                    <m:baseJc m:val="center"/>
                                  </m:mPr>
                                  <m:mr>
                                    <m:e>
                                      <m:r>
                                        <m:t>1</m:t>
                                      </m:r>
                                    </m:e>
                                    <m:e>
                                      <m:r>
                                        <m:t>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t>3</m:t>
                                      </m:r>
                                    </m:e>
                                    <m:e>
                                      <m:r>
                                        <m:t>4</m:t>
                                      </m:r>
                                    </m:e>
                                  </m:mr>
                                </m:m>
                                <u:future flag="keep"/>
                              </m:oMath>
                            </m:oMathPara>
                          </a14:m>
                        </mc:Choice>
                        <mc:Choice Requires="a14">
                          <a14:m>
                            <m:oMath>
                              <m:r>
                                <m:t>Later</m:t>
                              </m:r>
                            </m:oMath>
                          </a14:m>
                        </mc:Choice>
                        <mc:Fallback>
                          <a:r>
                            <a:t>Fallback</a:t>
                          </a:r>
                        </mc:Fallback>
                      </mc:AlternateContent>
                      <a:r>
                        <a:t>After</a:t>
                      </a:r>
                    </a:p>
                    <a:p>
                      <a14:m>
                        <m:oMath>
                          <m:rad>
                            <m:deg>
                              <m:r>
                                <m:t>3</m:t>
                              </m:r>
                            </m:deg>
                            <m:e>
                              <m:r>
                                <m:t>y</m:t>
                              </m:r>
                            </m:e>
                          </m:rad>
                          <m:nary>
                            <m:naryPr>
                              <m:chr m:val="∑"/>
                            </m:naryPr>
                            <m:sub>
                              <m:r>
                                <m:t>i=1</m:t>
                              </m:r>
                            </m:sub>
                            <m:sup>
                              <m:r>
                                <m:t>n</m:t>
                              </m:r>
                            </m:sup>
                            <m:e>
                              <m:r>
                                <m:t>i</m:t>
                              </m:r>
                            </m:e>
                          </m:nary>
                        </m:oMath>
                      </a14:m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担当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指標</a:t>
                      </a:r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t>標準化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運用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作業時間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 descr="fi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0" y="381000"/>
            <a:ext cx="304800" cy="304800"/>
          </a:xfrm>
          <a:prstGeom prst="rect">
            <a:avLst/>
          </a:prstGeom>
        </p:spPr>
      </p:pic>
      <p:grpSp>
        <p:nvGrpSpPr>
          <p:cNvPr id="8" name="Grouped"/>
          <p:cNvGrpSpPr/>
          <p:nvPr/>
        </p:nvGrpSpPr>
        <p:grpSpPr>
          <a:xfrm>
            <a:off x="9144000" y="2286000"/>
            <a:ext cx="1651000" cy="762000"/>
            <a:chOff x="9144000" y="2286000"/>
            <a:chExt cx="1651000" cy="762000"/>
          </a:xfrm>
        </p:grpSpPr>
        <p:sp>
          <p:nvSpPr>
            <p:cNvPr id="9" name="Rectangle 8"/>
            <p:cNvSpPr/>
            <p:nvPr/>
          </p:nvSpPr>
          <p:spPr>
            <a:xfrm>
              <a:off x="9144000" y="2286000"/>
              <a:ext cx="762000" cy="762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A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10033000" y="2286000"/>
              <a:ext cx="762000" cy="762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B</a:t>
              </a:r>
            </a:p>
          </p:txBody>
        </p:sp>
      </p:grpSp>
      <p:sp>
        <p:nvSpPr>
          <p:cNvPr id="900" name="Fictional equation and 3D"/>
          <p:cNvSpPr/>
          <p:nvPr/>
        </p:nvSpPr>
        <p:spPr>
          <a:xfrm>
            <a:off x="127000" y="254000"/>
            <a:ext cx="2540000" cy="1270000"/>
          </a:xfrm>
          <a:prstGeom prst="rect">
            <a:avLst/>
          </a:prstGeom>
          <a:scene3d>
            <a:camera prst="perspectiveFront" fov="5400000" zoom="150000">
              <a:rot lat="600000" lon="1200000" rev="0"/>
            </a:camera>
            <a:lightRig rig="threePt" dir="t">
              <a:rot lat="0" lon="0" rev="1800000"/>
            </a:lightRig>
            <a:backdrop>
              <a:anchor x="0" y="0" z="12700"/>
              <a:norm dx="0" dy="0" dz="1"/>
              <a:up dx="0" dy="1" dz="0"/>
            </a:backdrop>
            <a:extLst>
              <a:ext uri="urn:fictional:scene">
                <u:future flag="scene"/>
              </a:ext>
            </a:extLst>
          </a:scene3d>
          <a:sp3d z="-12700" extrusionH="25400" contourW="6350" prstMaterial="plastic">
            <a:bevelT w="12700" h="25400" prst="circle"/>
            <a:bevelB w="0" h="0"/>
            <a:extrusionClr>
              <a:srgbClr val="123456"/>
            </a:extrusionClr>
            <a:contourClr>
              <a:schemeClr val="accent2"/>
            </a:contourClr>
          </a:sp3d>
        </p:spPr>
        <p:txBody>
          <a:bodyPr/>
          <a:lstStyle/>
          <a:p>
            <a:r>
              <a:t>Before</a:t>
            </a:r>
            <mc:AlternateContent>
              <mc:Choice Requires="u">
                <a14:m>
                  <m:oMath>
                    <m:r>
                      <m:t>Rejected</m:t>
                    </m:r>
                  </m:oMath>
                </a14:m>
              </mc:Choice>
              <mc:Choice Requires="a14">
                <a14:m>
                  <m:oMathPara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m:t>a+b</m:t>
                          </m:r>
                        </m:num>
                        <m:den>
                          <m:r>
                            <m:t>c</m:t>
                          </m:r>
                        </m:den>
                      </m:f>
                      <m:sSup>
                        <m:e>
                          <m:r>
                            <m:t>x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m>
                        <m:mPr>
                          <m:baseJc m:val="center"/>
                        </m:mPr>
                        <m:mr>
                          <m:e>
                            <m:r>
                              <m:t>1</m:t>
                            </m:r>
                          </m:e>
                          <m:e>
                            <m:r>
                              <m:t>2</m:t>
                            </m:r>
                          </m:e>
                        </m:mr>
                        <m:mr>
                          <m:e>
                            <m:r>
                              <m:t>3</m:t>
                            </m:r>
                          </m:e>
                          <m:e>
                            <m:r>
                              <m:t>4</m:t>
                            </m:r>
                          </m:e>
                        </m:mr>
                      </m:m>
                      <u:future flag="keep"/>
                    </m:oMath>
                  </m:oMathPara>
                </a14:m>
              </mc:Choice>
              <mc:Choice Requires="a14">
                <a14:m>
                  <m:oMath>
                    <m:r>
                      <m:t>Later</m:t>
                    </m:r>
                  </m:oMath>
                </a14:m>
              </mc:Choice>
              <mc:Fallback>
                <a:r>
                  <a:t>Fallback</a:t>
                </a:r>
              </mc:Fallback>
            </mc:AlternateContent>
            <a:r>
              <a:t>After</a:t>
            </a:r>
          </a:p>
          <a:p>
            <a14:m>
              <m:oMath>
                <m:rad>
                  <m:deg>
                    <m:r>
                      <m:t>3</m:t>
                    </m:r>
                  </m:deg>
                  <m:e>
                    <m:r>
                      <m:t>y</m:t>
                    </m:r>
                  </m:e>
                </m:rad>
                <m:nary>
                  <m:naryPr>
                    <m:chr m:val="∑"/>
                  </m:naryPr>
                  <m:sub>
                    <m:r>
                      <m:t>i=1</m:t>
                    </m:r>
                  </m:sub>
                  <m:sup>
                    <m:r>
                      <m:t>n</m:t>
                    </m:r>
                  </m:sup>
                  <m:e>
                    <m:r>
                      <m:t>i</m:t>
                    </m:r>
                  </m:e>
                </m:nary>
              </m:oMath>
            </a14:m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Metrics"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762000" y="1016000"/>
          <a:ext cx="6350000" cy="381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62000" y="381000"/>
            <a:ext cx="635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Metrics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Fictional strategy</dc:title>
  <dc:subject/>
  <dc:creator>Fixture Author</dc:creator>
  <cp:keywords/>
  <dc:description>generated using python-pptx</dc:description>
  <cp:lastModifiedBy>Fixture Generator</cp:lastModifiedBy>
  <cp:revision>1</cp:revision>
  <dcterms:created xsi:type="dcterms:W3CDTF">2013-01-27T09:14:16Z</dcterms:created>
  <dcterms:modified xsi:type="dcterms:W3CDTF">2013-01-27T09:15:58Z</dcterms:modified>
  <cp:category/>
</cp:coreProperties>
</file>