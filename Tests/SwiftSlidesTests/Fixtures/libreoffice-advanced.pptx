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ommentAuthors.xml" ContentType="application/vnd.openxmlformats-officedocument.presentationml.commentAuthors+xml"/>
  <Override PartName="/ppt/media/media2.wav" ContentType="audio/x-wav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Masters/notesMaster1.xml" ContentType="application/vnd.openxmlformats-officedocument.presentationml.notesMaster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0" name="Fictional Reviewer" initials="FR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commentAuthors" Target="commentAuthor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gapWidth val="150"/>
        <c:overlap val="0"/>
        <c:axId val="21064754"/>
        <c:axId val="17484660"/>
      </c:barChart>
      <c:catAx>
        <c:axId val="21064754"/>
        <c:scaling>
          <c:orientation val="minMax"/>
        </c:scaling>
        <c:delete val="0"/>
        <c:axPos val="b"/>
        <c:numFmt formatCode="[$-411]yyyy/mm/dd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7484660"/>
        <c:crosses val="autoZero"/>
        <c:auto val="1"/>
        <c:lblAlgn val="ctr"/>
        <c:lblOffset val="100"/>
        <c:noMultiLvlLbl val="0"/>
      </c:catAx>
      <c:valAx>
        <c:axId val="17484660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106475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omments/comment1.xml><?xml version="1.0" encoding="utf-8"?>
<p:cmLst xmlns:p="http://schemas.openxmlformats.org/presentationml/2006/main">
  <p:cm authorId="0" dt="2026-01-01T12:00:00.000000000" idx="1">
    <p:pos x="720" y="360"/>
    <p:text>Fictional review comment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BD51DA9F-B912-4F40-B742-1751B2DC4A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架空データの提案資料です。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ABDA22-6478-4A6E-9F38-AD2B1AEAC4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79FEEF-8050-4543-9610-07EE920DCA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637040-3440-42C0-B1C6-502A040264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EA8A29-FFF0-4600-A752-9A8DF19FB7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D3943C-32EA-423E-8752-427BDAE087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50A4BB-8B7D-4B9B-ADFA-3CF3D7CEE5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9007D5-A85D-4FB6-900D-6ED9D2732F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8A2646-9179-474F-B0EA-4F62F9D23A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20A77C-FD08-45D1-AE5A-11E538AF8F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028191-F497-460F-9941-ED76C986AE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545CB-F2B6-49F6-B0AA-3666E98205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0D5AA3-C4E5-4721-9745-FA49F217AE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strategy" TargetMode="External"/><Relationship Id="rId2" Type="http://schemas.openxmlformats.org/officeDocument/2006/relationships/image" Target="../media/image1.png"/><Relationship Id="rId3" Type="http://schemas.openxmlformats.org/officeDocument/2006/relationships/hyperlink" Target="https://example.com/strategy" TargetMode="External"/><Relationship Id="rId4" Type="http://schemas.openxmlformats.org/officeDocument/2006/relationships/hyperlink" Target="https://example.com/strategy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example.com/strategy" TargetMode="External"/><Relationship Id="rId7" Type="http://schemas.openxmlformats.org/officeDocument/2006/relationships/audio" Target="../media/media2.wav"/><Relationship Id="rId8" Type="http://schemas.microsoft.com/office/2007/relationships/media" Target="../media/media2.wav"/><Relationship Id="rId9" Type="http://schemas.openxmlformats.org/officeDocument/2006/relationships/image" Target="../media/image1.png"/><Relationship Id="rId10" Type="http://schemas.openxmlformats.org/officeDocument/2006/relationships/slideLayout" Target="../slideLayouts/slideLayout9.xml"/><Relationship Id="rId11" Type="http://schemas.openxmlformats.org/officeDocument/2006/relationships/comments" Target="../comments/comment1.xml"/><Relationship Id="rId1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Headline"/>
          <p:cNvSpPr/>
          <p:nvPr/>
        </p:nvSpPr>
        <p:spPr>
          <a:xfrm>
            <a:off x="507960" y="380880"/>
            <a:ext cx="7619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1520" tIns="7632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ja-JP" sz="2800" b="1" u="sng" strike="noStrike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売上成長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90 days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Initiative"/>
          <p:cNvSpPr/>
          <p:nvPr/>
        </p:nvSpPr>
        <p:spPr>
          <a:xfrm>
            <a:off x="762120" y="1778040"/>
            <a:ext cx="3047760" cy="126972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25400">
            <a:solidFill>
              <a:srgbClr val="236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顧客集中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Flow"/>
          <p:cNvCxnSpPr/>
          <p:nvPr/>
        </p:nvCxnSpPr>
        <p:spPr>
          <a:xfrm>
            <a:off x="4063680" y="2412720"/>
            <a:ext cx="12704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70" name="Decision"/>
          <p:cNvSpPr/>
          <p:nvPr/>
        </p:nvSpPr>
        <p:spPr>
          <a:xfrm>
            <a:off x="5587920" y="1778040"/>
            <a:ext cx="2539800" cy="126972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実行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e 5"/>
          <p:cNvGraphicFramePr/>
          <p:nvPr/>
        </p:nvGraphicFramePr>
        <p:xfrm>
          <a:off x="762120" y="3809880"/>
          <a:ext cx="7619760" cy="1269720"/>
        </p:xfrm>
        <a:graphic>
          <a:graphicData uri="http://schemas.openxmlformats.org/drawingml/2006/table">
            <a:tbl>
              <a:tblPr/>
              <a:tblGrid>
                <a:gridCol w="2539800"/>
                <a:gridCol w="2539800"/>
                <a:gridCol w="2539800"/>
              </a:tblGrid>
              <a:tr h="63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施策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AA0000"/>
                      </a:solidFill>
                      <a:prstDash val="solid"/>
                    </a:lnL>
                    <a:lnR w="25200">
                      <a:solidFill>
                        <a:srgbClr val="00AA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solidFill>
                        <a:srgbClr val="0000AA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担当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指標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3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標準化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運用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作業時間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pic>
        <p:nvPicPr>
          <p:cNvPr id="72" name="Picture 6" descr="fixture.png"/>
          <p:cNvPicPr/>
          <p:nvPr/>
        </p:nvPicPr>
        <p:blipFill>
          <a:blip r:embed="rId2"/>
          <a:srcRect l="11538" t="0" r="26923" b="0"/>
          <a:stretch/>
        </p:blipFill>
        <p:spPr>
          <a:xfrm>
            <a:off x="10159920" y="3808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" name="Grouped"/>
          <p:cNvGrpSpPr/>
          <p:nvPr/>
        </p:nvGrpSpPr>
        <p:grpSpPr>
          <a:xfrm>
            <a:off x="9144000" y="2286000"/>
            <a:ext cx="1650600" cy="761760"/>
            <a:chOff x="9144000" y="2286000"/>
            <a:chExt cx="1650600" cy="761760"/>
          </a:xfrm>
        </p:grpSpPr>
        <p:sp>
          <p:nvSpPr>
            <p:cNvPr id="74" name="Rectangle 8"/>
            <p:cNvSpPr/>
            <p:nvPr/>
          </p:nvSpPr>
          <p:spPr>
            <a:xfrm>
              <a:off x="9144000" y="2286000"/>
              <a:ext cx="761760" cy="761760"/>
            </a:xfrm>
            <a:prstGeom prst="rect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>
              <a:solidFill>
                <a:srgbClr val="4A7EBB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Oval 9"/>
            <p:cNvSpPr/>
            <p:nvPr/>
          </p:nvSpPr>
          <p:spPr>
            <a:xfrm>
              <a:off x="10032840" y="2286000"/>
              <a:ext cx="761760" cy="761760"/>
            </a:xfrm>
            <a:prstGeom prst="ellipse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>
              <a:solidFill>
                <a:srgbClr val="4A7EBB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Gradient"/>
          <p:cNvSpPr/>
          <p:nvPr/>
        </p:nvSpPr>
        <p:spPr>
          <a:xfrm>
            <a:off x="507960" y="380880"/>
            <a:ext cx="7619760" cy="76176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75000">
                <a:srgbClr val="C0504D">
                  <a:alpha val="40000"/>
                </a:srgbClr>
              </a:gs>
              <a:gs pos="100000">
                <a:srgbClr val="0000FF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1520" tIns="7632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sng" strike="noStrike">
                <a:solidFill>
                  <a:srgbClr val="0000FF"/>
                </a:solidFill>
                <a:effectLst/>
                <a:uFillTx/>
                <a:latin typeface="Aptos"/>
                <a:hlinkClick r:id="rId3"/>
              </a:rPr>
              <a:t>Fictional advanced reading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90 days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attern"/>
          <p:cNvSpPr/>
          <p:nvPr/>
        </p:nvSpPr>
        <p:spPr>
          <a:xfrm>
            <a:off x="507960" y="380880"/>
            <a:ext cx="7619760" cy="761760"/>
          </a:xfrm>
          <a:prstGeom prst="rect">
            <a:avLst/>
          </a:prstGeom>
          <a:pattFill prst="wdUpDiag">
            <a:fgClr>
              <a:srgbClr val="123456"/>
            </a:fgClr>
            <a:bgClr>
              <a:srgbClr val="FFFFFF"/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1520" tIns="7632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sng" strike="noStrike">
                <a:solidFill>
                  <a:srgbClr val="0000FF"/>
                </a:solidFill>
                <a:effectLst/>
                <a:uFillTx/>
                <a:latin typeface="Aptos"/>
                <a:hlinkClick r:id="rId4"/>
              </a:rPr>
              <a:t>Fictional advanced reading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90 days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icture fill"/>
          <p:cNvSpPr/>
          <p:nvPr/>
        </p:nvSpPr>
        <p:spPr>
          <a:xfrm>
            <a:off x="507960" y="380880"/>
            <a:ext cx="7619760" cy="761760"/>
          </a:xfrm>
          <a:prstGeom prst="rect">
            <a:avLst/>
          </a:prstGeom>
          <a:blipFill rotWithShape="0">
            <a:blip r:embed="rId5"/>
            <a:srcRect/>
            <a:tile tx="3322" ty="2012" sx="50000" sy="50000" algn="tl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1520" tIns="7632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sng" strike="noStrike">
                <a:solidFill>
                  <a:srgbClr val="0000FF"/>
                </a:solidFill>
                <a:effectLst/>
                <a:uFillTx/>
                <a:latin typeface="Aptos"/>
                <a:hlinkClick r:id="rId6"/>
              </a:rPr>
              <a:t>Fictional advanced reading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90 days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 descr="fixture.png">
            <a:hlinkClick r:id="" action="ppaction://media"/>
          </p:cNvPr>
          <p:cNvPicPr/>
          <p:nvPr>
            <a:audioFile r:link="rId7"/>
            <p:extLst>
              <p:ext uri="{DAA4B4D4-6D71-4841-9C94-3DE7FCFB9230}">
                <p14:media r:embed="rId8"/>
              </p:ext>
            </p:extLst>
          </p:nvPr>
        </p:nvPicPr>
        <p:blipFill>
          <a:blip r:embed="rId9"/>
          <a:srcRect l="11538" t="0" r="26923" b="0"/>
          <a:stretch>
            <a:fillRect/>
          </a:stretch>
        </p:blipFill>
        <p:spPr>
          <a:xfrm>
            <a:off x="10159920" y="380880"/>
            <a:ext cx="304560" cy="304560"/>
          </a:xfrm>
          <a:prstGeom prst="rect">
            <a:avLst/>
          </a:prstGeom>
          <a:ln w="0">
            <a:noFill/>
          </a:ln>
        </p:spPr>
      </p:pic>
    </p:spTree>
  </p:cSld>
  <p:transition spd="med" advTm="1000">
    <p:push dir="r"/>
  </p:transition>
  <p:timing>
    <p:tnLst>
      <p:par>
        <p:cTn id="1" dur="indefinite" restart="never" nodeType="tmRoot">
          <p:childTnLst>
            <p:par>
              <p:cTn id="2" dur="500" fill="hold">
                <p:stCondLst>
                  <p:cond delay="0" evt="onClick"/>
                </p:stCondLst>
                <p:childTnLst>
                  <p:animEffect transition="in" filter="fade">
                    <p:cBhvr additive="repl">
                      <p:cTn id="3" dur="500"/>
                      <p:tgtEl>
                        <p:spTgt spid="76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Chart 1"/>
          <p:cNvGraphicFramePr/>
          <p:nvPr/>
        </p:nvGraphicFramePr>
        <p:xfrm>
          <a:off x="762120" y="1015920"/>
          <a:ext cx="6349680" cy="380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1" name="TextBox 2"/>
          <p:cNvSpPr/>
          <p:nvPr/>
        </p:nvSpPr>
        <p:spPr>
          <a:xfrm>
            <a:off x="762120" y="380880"/>
            <a:ext cx="6349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Fixture Author</dc:creator>
  <dc:description>generated using python-pptx</dc:description>
  <dc:language>ja-JP</dc:language>
  <cp:lastModifiedBy/>
  <dcterms:modified xsi:type="dcterms:W3CDTF">2026-10-08T12:51:32Z</dcterms:modified>
  <cp:revision>2</cp:revision>
  <dc:subject/>
  <dc:title>Fictional strategy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